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5" r:id="rId4"/>
  </p:sldMasterIdLst>
  <p:sldIdLst>
    <p:sldId id="313" r:id="rId5"/>
    <p:sldId id="310" r:id="rId6"/>
    <p:sldId id="311" r:id="rId7"/>
    <p:sldId id="312" r:id="rId8"/>
    <p:sldId id="314" r:id="rId9"/>
    <p:sldId id="315" r:id="rId10"/>
    <p:sldId id="316" r:id="rId11"/>
    <p:sldId id="317" r:id="rId12"/>
    <p:sldId id="318" r:id="rId13"/>
    <p:sldId id="319" r:id="rId14"/>
    <p:sldId id="32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A0C0817-A112-4847-8014-A94B7D2A4EA3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90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53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114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79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71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435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526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062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519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377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50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76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075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706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940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268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537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6FA2B21-3FCD-4721-B95C-427943F6112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9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</p:sldLayoutIdLst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9C746-5F88-4EB2-6885-73BBA868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319" y="756851"/>
            <a:ext cx="9714151" cy="9494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Russia–Ukraine War: Military Equipment      Losses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61C95-F804-82A1-0776-50636747E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By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</a:t>
            </a:r>
            <a:r>
              <a:rPr lang="en-US" b="1" dirty="0"/>
              <a:t>Praveen Kumar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64417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C1993-C6C4-0046-3BCD-19911B3A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Objective of the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D45207-5DEC-44EB-C07A-5ED2C4FDFF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031950"/>
            <a:ext cx="73763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Analyze total equipment losses by country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Compare losses across equipment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Identify trends and dominance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Build an interactive Power BI dashboard for decision- making</a:t>
            </a:r>
          </a:p>
        </p:txBody>
      </p:sp>
    </p:spTree>
    <p:extLst>
      <p:ext uri="{BB962C8B-B14F-4D97-AF65-F5344CB8AC3E}">
        <p14:creationId xmlns:p14="http://schemas.microsoft.com/office/powerpoint/2010/main" val="151159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D877-2DC5-B9E6-67BF-4585D679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FFDE8-793F-6CD7-ECBF-EA9D5B54D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740739"/>
          </a:xfrm>
        </p:spPr>
        <p:txBody>
          <a:bodyPr>
            <a:normAutofit fontScale="70000" lnSpcReduction="20000"/>
          </a:bodyPr>
          <a:lstStyle/>
          <a:p>
            <a:r>
              <a:rPr lang="en-US" sz="2100" b="1" dirty="0">
                <a:latin typeface="Bahnschrift Condensed" panose="020B0502040204020203" pitchFamily="34" charset="0"/>
              </a:rPr>
              <a:t>Dataset Description :</a:t>
            </a:r>
          </a:p>
          <a:p>
            <a:pPr marL="0" indent="0">
              <a:buNone/>
            </a:pPr>
            <a:endParaRPr lang="en-US" sz="2100" dirty="0">
              <a:latin typeface="Bahnschrift Condensed" panose="020B0502040204020203" pitchFamily="34" charset="0"/>
            </a:endParaRPr>
          </a:p>
          <a:p>
            <a:r>
              <a:rPr lang="en-US" sz="2100" dirty="0">
                <a:latin typeface="Bahnschrift Condensed" panose="020B0502040204020203" pitchFamily="34" charset="0"/>
              </a:rPr>
              <a:t>Source: Open war-loss tracking dataset</a:t>
            </a:r>
          </a:p>
          <a:p>
            <a:r>
              <a:rPr lang="en-US" sz="2100" dirty="0">
                <a:latin typeface="Bahnschrift Condensed" panose="020B0502040204020203" pitchFamily="34" charset="0"/>
              </a:rPr>
              <a:t>Countries: Russia &amp; Ukraine</a:t>
            </a:r>
          </a:p>
          <a:p>
            <a:r>
              <a:rPr lang="en-US" sz="2100" dirty="0">
                <a:latin typeface="Bahnschrift Condensed" panose="020B0502040204020203" pitchFamily="34" charset="0"/>
              </a:rPr>
              <a:t>Equipment Types:</a:t>
            </a:r>
          </a:p>
          <a:p>
            <a:pPr lvl="1"/>
            <a:r>
              <a:rPr lang="en-US" sz="2100" dirty="0">
                <a:latin typeface="Bahnschrift Condensed" panose="020B0502040204020203" pitchFamily="34" charset="0"/>
              </a:rPr>
              <a:t>Tanks</a:t>
            </a:r>
          </a:p>
          <a:p>
            <a:pPr lvl="1"/>
            <a:r>
              <a:rPr lang="en-US" sz="2100" dirty="0">
                <a:latin typeface="Bahnschrift Condensed" panose="020B0502040204020203" pitchFamily="34" charset="0"/>
              </a:rPr>
              <a:t>Armored Vehicles</a:t>
            </a:r>
          </a:p>
          <a:p>
            <a:pPr lvl="1"/>
            <a:r>
              <a:rPr lang="en-US" sz="2100" dirty="0">
                <a:latin typeface="Bahnschrift Condensed" panose="020B0502040204020203" pitchFamily="34" charset="0"/>
              </a:rPr>
              <a:t>Aircraft</a:t>
            </a:r>
          </a:p>
          <a:p>
            <a:pPr lvl="1"/>
            <a:r>
              <a:rPr lang="en-US" sz="2100" dirty="0">
                <a:latin typeface="Bahnschrift Condensed" panose="020B0502040204020203" pitchFamily="34" charset="0"/>
              </a:rPr>
              <a:t>Helicopters</a:t>
            </a:r>
          </a:p>
          <a:p>
            <a:pPr lvl="1"/>
            <a:r>
              <a:rPr lang="en-US" sz="2100" dirty="0">
                <a:latin typeface="Bahnschrift Condensed" panose="020B0502040204020203" pitchFamily="34" charset="0"/>
              </a:rPr>
              <a:t>Artillery</a:t>
            </a:r>
          </a:p>
          <a:p>
            <a:pPr lvl="1"/>
            <a:r>
              <a:rPr lang="en-US" sz="2100" dirty="0">
                <a:latin typeface="Bahnschrift Condensed" panose="020B0502040204020203" pitchFamily="34" charset="0"/>
              </a:rPr>
              <a:t>Naval &amp; Air Defense</a:t>
            </a:r>
          </a:p>
          <a:p>
            <a:r>
              <a:rPr lang="en-US" sz="2100" dirty="0">
                <a:latin typeface="Bahnschrift Condensed" panose="020B0502040204020203" pitchFamily="34" charset="0"/>
              </a:rPr>
              <a:t>Granularity: Equipment-wise losses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45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D4E4-2BD1-64D9-6451-E1ECD4755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259" y="838200"/>
            <a:ext cx="9808419" cy="1005961"/>
          </a:xfrm>
        </p:spPr>
        <p:txBody>
          <a:bodyPr/>
          <a:lstStyle/>
          <a:p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CLEANING &amp; PREPARATION       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(POWERQUERY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01F49-8164-F242-2E70-7924C963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Cleaning Steps</a:t>
            </a:r>
            <a:endParaRPr lang="en-US" dirty="0"/>
          </a:p>
          <a:p>
            <a:r>
              <a:rPr lang="en-US" dirty="0"/>
              <a:t>Removed null and duplicate records</a:t>
            </a:r>
          </a:p>
          <a:p>
            <a:r>
              <a:rPr lang="en-US" dirty="0"/>
              <a:t>Renamed columns for clarity</a:t>
            </a:r>
          </a:p>
          <a:p>
            <a:r>
              <a:rPr lang="en-US" dirty="0"/>
              <a:t>Converted data types correctly</a:t>
            </a:r>
          </a:p>
          <a:p>
            <a:r>
              <a:rPr lang="en-US" dirty="0"/>
              <a:t>Standardized equipment category names</a:t>
            </a:r>
          </a:p>
          <a:p>
            <a:r>
              <a:rPr lang="en-US" dirty="0"/>
              <a:t>Structured data for DAX calculations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7C858-30B4-424C-2535-38387DB84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165" y="2482530"/>
            <a:ext cx="5535241" cy="365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2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DEE6-5AFD-CD9F-E07E-53A1F95BB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DAX MEASURES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65CB9-342F-2572-3954-8E3B6B152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Important DAX Calculations</a:t>
            </a:r>
            <a:endParaRPr lang="en-US" dirty="0"/>
          </a:p>
          <a:p>
            <a:r>
              <a:rPr lang="en-US" dirty="0"/>
              <a:t>Total Equipment Losses</a:t>
            </a:r>
          </a:p>
          <a:p>
            <a:r>
              <a:rPr lang="en-US" dirty="0"/>
              <a:t>Losses by Country</a:t>
            </a:r>
          </a:p>
          <a:p>
            <a:r>
              <a:rPr lang="en-US" dirty="0"/>
              <a:t>Losses by Equipment Type</a:t>
            </a:r>
          </a:p>
          <a:p>
            <a:r>
              <a:rPr lang="en-US" dirty="0"/>
              <a:t>Percentage Share of Losses</a:t>
            </a:r>
          </a:p>
          <a:p>
            <a:r>
              <a:rPr lang="en-US" dirty="0"/>
              <a:t>Comparative Difference between Countries</a:t>
            </a:r>
          </a:p>
          <a:p>
            <a:r>
              <a:rPr lang="en-US" b="1" dirty="0"/>
              <a:t>Example :</a:t>
            </a:r>
          </a:p>
          <a:p>
            <a:r>
              <a:rPr lang="en-US" dirty="0"/>
              <a:t>Total Losses = SUM(Losses[Count])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66313-A276-6D38-DF30-7538A7036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129" y="2378781"/>
            <a:ext cx="2249236" cy="427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30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6669-22F7-D28D-3BBA-DD53646D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89DC7C-2541-C518-D352-9A967B3B2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3641" y="2419475"/>
            <a:ext cx="8191893" cy="4317980"/>
          </a:xfrm>
        </p:spPr>
      </p:pic>
    </p:spTree>
    <p:extLst>
      <p:ext uri="{BB962C8B-B14F-4D97-AF65-F5344CB8AC3E}">
        <p14:creationId xmlns:p14="http://schemas.microsoft.com/office/powerpoint/2010/main" val="3146741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0EC5-CDF6-A574-A56D-D18AAE13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 FROM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FADFA-14AF-DB6E-B164-582E92D5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20316"/>
            <a:ext cx="8825659" cy="3416300"/>
          </a:xfrm>
        </p:spPr>
        <p:txBody>
          <a:bodyPr/>
          <a:lstStyle/>
          <a:p>
            <a:r>
              <a:rPr lang="en-US" b="1" dirty="0"/>
              <a:t>Insights Identified</a:t>
            </a:r>
            <a:endParaRPr lang="en-US" dirty="0"/>
          </a:p>
          <a:p>
            <a:r>
              <a:rPr lang="en-US" dirty="0"/>
              <a:t>Russia has higher losses in heavy equipment like tanks</a:t>
            </a:r>
          </a:p>
          <a:p>
            <a:r>
              <a:rPr lang="en-US" dirty="0"/>
              <a:t>Ukraine shows fewer losses but more concentrated categories</a:t>
            </a:r>
          </a:p>
          <a:p>
            <a:r>
              <a:rPr lang="en-US" dirty="0"/>
              <a:t>Armored vehicles and artillery form major loss segments</a:t>
            </a:r>
          </a:p>
          <a:p>
            <a:r>
              <a:rPr lang="en-US" dirty="0"/>
              <a:t>Air equipment losses are comparatively lower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02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6133-4275-A529-EB41-2F1B4749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INTERACTIVITY &amp; USER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758F6-2805-47EC-5520-8A2A9C991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    Why Power BI?</a:t>
            </a:r>
            <a:endParaRPr lang="en-US" dirty="0"/>
          </a:p>
          <a:p>
            <a:r>
              <a:rPr lang="en-US" dirty="0"/>
              <a:t>Dynamic slicers</a:t>
            </a:r>
          </a:p>
          <a:p>
            <a:r>
              <a:rPr lang="en-US" dirty="0"/>
              <a:t>Drill-down capability</a:t>
            </a:r>
          </a:p>
          <a:p>
            <a:r>
              <a:rPr lang="en-US" dirty="0"/>
              <a:t>Cross-highlighting visuals</a:t>
            </a:r>
          </a:p>
          <a:p>
            <a:r>
              <a:rPr lang="en-US" dirty="0"/>
              <a:t>Real-time filtering</a:t>
            </a:r>
          </a:p>
          <a:p>
            <a:r>
              <a:rPr lang="en-US" dirty="0"/>
              <a:t>Easy stakeholder understanding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32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97D4-C34D-FFAA-707B-B95D1A6D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VALUE &amp; USE CASE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E87C20-AD8C-11EE-85B9-1C634A74B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Demonstrates real-world analytical thinking</a:t>
            </a:r>
          </a:p>
          <a:p>
            <a:r>
              <a:rPr lang="en-US" dirty="0"/>
              <a:t>Shows Power BI end-to-end skills</a:t>
            </a:r>
          </a:p>
          <a:p>
            <a:r>
              <a:rPr lang="en-US" dirty="0"/>
              <a:t>Useful for defense analysis, journalism, and research</a:t>
            </a:r>
          </a:p>
          <a:p>
            <a:r>
              <a:rPr lang="en-US" dirty="0"/>
              <a:t>Strong portfolio project for data roles</a:t>
            </a:r>
          </a:p>
        </p:txBody>
      </p:sp>
    </p:spTree>
    <p:extLst>
      <p:ext uri="{BB962C8B-B14F-4D97-AF65-F5344CB8AC3E}">
        <p14:creationId xmlns:p14="http://schemas.microsoft.com/office/powerpoint/2010/main" val="3120071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7BF0-F345-64A8-DB87-FF86E028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F6A31-1096-069C-CAE2-5C5A5455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Data visualization simplifies complex war data</a:t>
            </a:r>
          </a:p>
          <a:p>
            <a:r>
              <a:rPr lang="en-US" dirty="0"/>
              <a:t>Power BI enables effective comparison</a:t>
            </a:r>
          </a:p>
          <a:p>
            <a:r>
              <a:rPr lang="en-US" dirty="0"/>
              <a:t>Interactive dashboards improve decision-making</a:t>
            </a:r>
          </a:p>
          <a:p>
            <a:r>
              <a:rPr lang="en-US" dirty="0"/>
              <a:t>Project demonstrates analytical and technical proficiency</a:t>
            </a:r>
          </a:p>
        </p:txBody>
      </p:sp>
    </p:spTree>
    <p:extLst>
      <p:ext uri="{BB962C8B-B14F-4D97-AF65-F5344CB8AC3E}">
        <p14:creationId xmlns:p14="http://schemas.microsoft.com/office/powerpoint/2010/main" val="1274869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6BFF37-CDA2-9412-2461-4BE63B14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anose="03070402050302030203" pitchFamily="66" charset="0"/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B78C3-91D6-E537-EA05-8C3F4AC64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23885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53</TotalTime>
  <Words>263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Bahnschrift Condensed</vt:lpstr>
      <vt:lpstr>Bradley Hand ITC</vt:lpstr>
      <vt:lpstr>Century Gothic</vt:lpstr>
      <vt:lpstr>Wingdings 3</vt:lpstr>
      <vt:lpstr>Ion Boardroom</vt:lpstr>
      <vt:lpstr>Russia–Ukraine War: Military Equipment      Losses Analysis</vt:lpstr>
      <vt:lpstr>Objective of the Analysis</vt:lpstr>
      <vt:lpstr>DATASET OVERVIEW</vt:lpstr>
      <vt:lpstr>DATA CLEANING &amp; PREPARATION        (POWERQUERY)</vt:lpstr>
      <vt:lpstr>KEY DAX MEASURES USED</vt:lpstr>
      <vt:lpstr>DASHBOARD OVERVIEW</vt:lpstr>
      <vt:lpstr>KEY INSIGHTS FROM ANALYSIS</vt:lpstr>
      <vt:lpstr>INTERACTIVITY &amp; USER EXPERIENCE</vt:lpstr>
      <vt:lpstr>PROJECT VALUE &amp; USE CASE</vt:lpstr>
      <vt:lpstr>CONCLUSION</vt:lpstr>
      <vt:lpstr>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Pj</dc:creator>
  <cp:lastModifiedBy>Praveen Pj</cp:lastModifiedBy>
  <cp:revision>3</cp:revision>
  <dcterms:created xsi:type="dcterms:W3CDTF">2025-12-28T07:55:16Z</dcterms:created>
  <dcterms:modified xsi:type="dcterms:W3CDTF">2025-12-28T08:49:06Z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